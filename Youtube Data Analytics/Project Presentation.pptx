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13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46836"/>
            <a:ext cx="103632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22446"/>
            <a:ext cx="91440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7A14-D5F3-4B51-8D8C-6552EA3EBE7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B2D5-8F37-4B74-A4B5-5EEE5B16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52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7A14-D5F3-4B51-8D8C-6552EA3EBE7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B2D5-8F37-4B74-A4B5-5EEE5B16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6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051688"/>
            <a:ext cx="1051560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507358"/>
            <a:ext cx="1051560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7A14-D5F3-4B51-8D8C-6552EA3EBE7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B2D5-8F37-4B74-A4B5-5EEE5B16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90750"/>
            <a:ext cx="51816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0750"/>
            <a:ext cx="51816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7A14-D5F3-4B51-8D8C-6552EA3EBE7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B2D5-8F37-4B74-A4B5-5EEE5B16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0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8152"/>
            <a:ext cx="1051560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017396"/>
            <a:ext cx="5157787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006090"/>
            <a:ext cx="5157787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17396"/>
            <a:ext cx="518318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006090"/>
            <a:ext cx="5183188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7A14-D5F3-4B51-8D8C-6552EA3EBE7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B2D5-8F37-4B74-A4B5-5EEE5B16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3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7A14-D5F3-4B51-8D8C-6552EA3EBE7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B2D5-8F37-4B74-A4B5-5EEE5B16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5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7A14-D5F3-4B51-8D8C-6552EA3EBE7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B2D5-8F37-4B74-A4B5-5EEE5B16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9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48640"/>
            <a:ext cx="3932237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84912"/>
            <a:ext cx="617220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68880"/>
            <a:ext cx="3932237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7A14-D5F3-4B51-8D8C-6552EA3EBE7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B2D5-8F37-4B74-A4B5-5EEE5B16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07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48640"/>
            <a:ext cx="3932237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84912"/>
            <a:ext cx="617220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68880"/>
            <a:ext cx="3932237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7A14-D5F3-4B51-8D8C-6552EA3EBE7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B2D5-8F37-4B74-A4B5-5EEE5B16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24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7A14-D5F3-4B51-8D8C-6552EA3EBE7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B2D5-8F37-4B74-A4B5-5EEE5B16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7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38150"/>
            <a:ext cx="262890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38150"/>
            <a:ext cx="773430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7A14-D5F3-4B51-8D8C-6552EA3EBE7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CB2D5-8F37-4B74-A4B5-5EEE5B16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82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  <a:alpha val="85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lin ang="3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38152"/>
            <a:ext cx="1051560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90750"/>
            <a:ext cx="1051560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627622"/>
            <a:ext cx="27432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77A14-D5F3-4B51-8D8C-6552EA3EBE7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627622"/>
            <a:ext cx="41148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627622"/>
            <a:ext cx="27432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8CB2D5-8F37-4B74-A4B5-5EEE5B16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3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36BC-226D-2F62-E7C5-849B220BF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697" y="433754"/>
            <a:ext cx="9694606" cy="1279439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Britannic Bold" panose="020B0903060703020204" pitchFamily="34" charset="0"/>
                <a:ea typeface="PMingLiU-ExtB" panose="02020500000000000000" pitchFamily="18" charset="-120"/>
              </a:rPr>
              <a:t>Project Title: </a:t>
            </a:r>
            <a:r>
              <a:rPr lang="en-US" sz="4400" b="1" dirty="0" err="1">
                <a:latin typeface="Britannic Bold" panose="020B0903060703020204" pitchFamily="34" charset="0"/>
                <a:ea typeface="PMingLiU-ExtB" panose="02020500000000000000" pitchFamily="18" charset="-120"/>
              </a:rPr>
              <a:t>Youtube</a:t>
            </a:r>
            <a:r>
              <a:rPr lang="en-US" sz="4400" b="1" dirty="0">
                <a:latin typeface="Britannic Bold" panose="020B0903060703020204" pitchFamily="34" charset="0"/>
                <a:ea typeface="PMingLiU-ExtB" panose="02020500000000000000" pitchFamily="18" charset="-120"/>
              </a:rPr>
              <a:t> Data Analytics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124E8-F929-20BA-BE86-21A2D5D08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335" y="2179050"/>
            <a:ext cx="9144000" cy="1028955"/>
          </a:xfrm>
        </p:spPr>
        <p:txBody>
          <a:bodyPr>
            <a:normAutofit/>
          </a:bodyPr>
          <a:lstStyle/>
          <a:p>
            <a:r>
              <a:rPr lang="en-US" sz="2800" dirty="0"/>
              <a:t>Analyze </a:t>
            </a:r>
            <a:r>
              <a:rPr lang="en-US" sz="2800" dirty="0" err="1"/>
              <a:t>Youtube</a:t>
            </a:r>
            <a:r>
              <a:rPr lang="en-US" sz="2800" dirty="0"/>
              <a:t> Dataset to uncover key insights and trends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6F574B-1579-9729-27AD-A784D9CC0428}"/>
              </a:ext>
            </a:extLst>
          </p:cNvPr>
          <p:cNvSpPr txBox="1"/>
          <p:nvPr/>
        </p:nvSpPr>
        <p:spPr>
          <a:xfrm>
            <a:off x="1120877" y="3208004"/>
            <a:ext cx="9566788" cy="3686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400" dirty="0"/>
              <a:t>Team Name : Team Hackers</a:t>
            </a:r>
          </a:p>
          <a:p>
            <a:pPr algn="ctr">
              <a:lnSpc>
                <a:spcPct val="200000"/>
              </a:lnSpc>
            </a:pPr>
            <a:r>
              <a:rPr lang="en-US" sz="2400" dirty="0"/>
              <a:t>Team Members : Anuj, Saurav &amp; Shruti</a:t>
            </a:r>
          </a:p>
          <a:p>
            <a:pPr algn="ctr">
              <a:lnSpc>
                <a:spcPct val="200000"/>
              </a:lnSpc>
            </a:pPr>
            <a:r>
              <a:rPr lang="en-US" sz="2400" dirty="0"/>
              <a:t>Role : Data Cleaning, EDA and visualization</a:t>
            </a:r>
          </a:p>
          <a:p>
            <a:pPr algn="ctr">
              <a:lnSpc>
                <a:spcPct val="200000"/>
              </a:lnSpc>
            </a:pPr>
            <a:r>
              <a:rPr lang="en-US" sz="2400" dirty="0"/>
              <a:t>Presented To : Analytics Circle</a:t>
            </a:r>
          </a:p>
          <a:p>
            <a:pPr algn="ctr">
              <a:lnSpc>
                <a:spcPct val="200000"/>
              </a:lnSpc>
            </a:pPr>
            <a:r>
              <a:rPr lang="en-US" sz="2400" dirty="0"/>
              <a:t>Date: 13 Oct 2025</a:t>
            </a:r>
          </a:p>
        </p:txBody>
      </p:sp>
    </p:spTree>
    <p:extLst>
      <p:ext uri="{BB962C8B-B14F-4D97-AF65-F5344CB8AC3E}">
        <p14:creationId xmlns:p14="http://schemas.microsoft.com/office/powerpoint/2010/main" val="273199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4E61E-23FA-9DF5-F672-A93459898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Aptos Display" panose="020B0004020202020204" pitchFamily="34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4AB6E-696C-4ADF-A02E-E0CC8E670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Convert </a:t>
            </a:r>
            <a:r>
              <a:rPr lang="en-US" dirty="0" err="1"/>
              <a:t>youtube</a:t>
            </a:r>
            <a:r>
              <a:rPr lang="en-US" dirty="0"/>
              <a:t> data into meaningful insights –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Find out which content gain the highest view and engagement, Category performance across different countries,  To study relationship between views, likes, and comments to measure content performance. </a:t>
            </a:r>
          </a:p>
        </p:txBody>
      </p:sp>
    </p:spTree>
    <p:extLst>
      <p:ext uri="{BB962C8B-B14F-4D97-AF65-F5344CB8AC3E}">
        <p14:creationId xmlns:p14="http://schemas.microsoft.com/office/powerpoint/2010/main" val="2146023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1C8F6-E2F2-B5CE-4EA2-2C97A5E453FB}"/>
              </a:ext>
            </a:extLst>
          </p:cNvPr>
          <p:cNvSpPr txBox="1"/>
          <p:nvPr/>
        </p:nvSpPr>
        <p:spPr>
          <a:xfrm>
            <a:off x="265800" y="254447"/>
            <a:ext cx="11257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CC0E6-DA27-0EB1-DD84-ED67695B629E}"/>
              </a:ext>
            </a:extLst>
          </p:cNvPr>
          <p:cNvSpPr txBox="1"/>
          <p:nvPr/>
        </p:nvSpPr>
        <p:spPr>
          <a:xfrm>
            <a:off x="560439" y="1304213"/>
            <a:ext cx="11484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Source: Kaggle – “</a:t>
            </a:r>
            <a:r>
              <a:rPr lang="en-US" sz="2000" dirty="0" err="1"/>
              <a:t>Youtube</a:t>
            </a:r>
            <a:r>
              <a:rPr lang="en-US" sz="2000" dirty="0"/>
              <a:t> Trending Videos Dataset</a:t>
            </a:r>
          </a:p>
          <a:p>
            <a:r>
              <a:rPr lang="en-US" sz="2000" dirty="0" err="1"/>
              <a:t>Fromat</a:t>
            </a:r>
            <a:r>
              <a:rPr lang="en-US" sz="2000" dirty="0"/>
              <a:t>: CSV file imported  into python, </a:t>
            </a:r>
            <a:r>
              <a:rPr lang="en-US" sz="2000" dirty="0" err="1"/>
              <a:t>SQl</a:t>
            </a:r>
            <a:r>
              <a:rPr lang="en-US" sz="2000" dirty="0"/>
              <a:t>, power BI</a:t>
            </a:r>
          </a:p>
          <a:p>
            <a:r>
              <a:rPr lang="en-US" sz="2000" dirty="0"/>
              <a:t>Total Rows: 44,9791</a:t>
            </a:r>
          </a:p>
          <a:p>
            <a:r>
              <a:rPr lang="en-US" sz="2000" dirty="0"/>
              <a:t>Total columns: 31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ECC5E-1E6F-AA37-42B3-249D1DA5E0E2}"/>
              </a:ext>
            </a:extLst>
          </p:cNvPr>
          <p:cNvSpPr txBox="1"/>
          <p:nvPr/>
        </p:nvSpPr>
        <p:spPr>
          <a:xfrm>
            <a:off x="467032" y="2763683"/>
            <a:ext cx="11257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Key columns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F9267-8A01-3CE3-9F23-8606F04D2CC5}"/>
              </a:ext>
            </a:extLst>
          </p:cNvPr>
          <p:cNvSpPr txBox="1"/>
          <p:nvPr/>
        </p:nvSpPr>
        <p:spPr>
          <a:xfrm>
            <a:off x="467032" y="3471569"/>
            <a:ext cx="11484078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Video_id</a:t>
            </a:r>
            <a:r>
              <a:rPr lang="en-US" sz="2000" dirty="0"/>
              <a:t> :   Every video has a distinct _id</a:t>
            </a:r>
          </a:p>
          <a:p>
            <a:r>
              <a:rPr lang="en-US" sz="2000" dirty="0"/>
              <a:t>Video_category_Id : This tells which category the video </a:t>
            </a:r>
            <a:r>
              <a:rPr lang="en-US" sz="2000" dirty="0" err="1"/>
              <a:t>beleongs</a:t>
            </a:r>
            <a:r>
              <a:rPr lang="en-US" sz="2000" dirty="0"/>
              <a:t> to</a:t>
            </a:r>
          </a:p>
          <a:p>
            <a:r>
              <a:rPr lang="en-US" sz="2000" dirty="0" err="1"/>
              <a:t>Channel_title</a:t>
            </a:r>
            <a:r>
              <a:rPr lang="en-US" sz="2000" dirty="0"/>
              <a:t> : This is a name of channel</a:t>
            </a:r>
          </a:p>
          <a:p>
            <a:r>
              <a:rPr lang="en-US" sz="2000" dirty="0" err="1"/>
              <a:t>Channel_country</a:t>
            </a:r>
            <a:r>
              <a:rPr lang="en-US" sz="2000" dirty="0"/>
              <a:t> : This shows which country the channel </a:t>
            </a:r>
            <a:r>
              <a:rPr lang="en-US" sz="2000" dirty="0" err="1"/>
              <a:t>beleongs</a:t>
            </a:r>
            <a:r>
              <a:rPr lang="en-US" sz="2000" dirty="0"/>
              <a:t> to</a:t>
            </a:r>
          </a:p>
          <a:p>
            <a:r>
              <a:rPr lang="en-US" sz="2000" dirty="0" err="1"/>
              <a:t>Video_pub_date</a:t>
            </a:r>
            <a:r>
              <a:rPr lang="en-US" sz="2000" dirty="0"/>
              <a:t> : This shows which date the video was published</a:t>
            </a:r>
          </a:p>
          <a:p>
            <a:r>
              <a:rPr lang="en-US" sz="2000" dirty="0" err="1"/>
              <a:t>Video_pub_day</a:t>
            </a:r>
            <a:r>
              <a:rPr lang="en-US" sz="2000" dirty="0"/>
              <a:t> : This shows which day in a week the video was published</a:t>
            </a:r>
          </a:p>
          <a:p>
            <a:r>
              <a:rPr lang="en-US" sz="2000" dirty="0"/>
              <a:t>Video_pub_hour : This is a specific time(hour) of the day when a video is made </a:t>
            </a:r>
            <a:r>
              <a:rPr lang="en-US" sz="2000" dirty="0" err="1"/>
              <a:t>publically</a:t>
            </a:r>
            <a:r>
              <a:rPr lang="en-US" sz="2000" dirty="0"/>
              <a:t> available on </a:t>
            </a:r>
            <a:r>
              <a:rPr lang="en-US" sz="2000" dirty="0" err="1"/>
              <a:t>youtube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Engagement_rate</a:t>
            </a:r>
            <a:r>
              <a:rPr lang="en-US" sz="2000" dirty="0"/>
              <a:t> : This show how much people liked the content and how much they responded to it.</a:t>
            </a:r>
          </a:p>
          <a:p>
            <a:r>
              <a:rPr lang="en-US" sz="2000" dirty="0"/>
              <a:t>Like_ Ratio : This shows the percentage of viewers who are satisfied with or like your content</a:t>
            </a:r>
          </a:p>
          <a:p>
            <a:endParaRPr lang="en-US" sz="2000" dirty="0"/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79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D8B5-5BBF-74ED-A84E-012A2E4FE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Role 1 : Data Cleaning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840D9-AA7C-B67C-1B9A-A07121425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Firstly, I imported data into python using pandas library.</a:t>
            </a:r>
          </a:p>
          <a:p>
            <a:r>
              <a:rPr lang="en-US" dirty="0"/>
              <a:t>I converted </a:t>
            </a:r>
            <a:r>
              <a:rPr lang="en-US" dirty="0" err="1"/>
              <a:t>video_published_at</a:t>
            </a:r>
            <a:r>
              <a:rPr lang="en-US" dirty="0"/>
              <a:t> and </a:t>
            </a:r>
            <a:r>
              <a:rPr lang="en-US" dirty="0" err="1"/>
              <a:t>channel_published_at</a:t>
            </a:r>
            <a:r>
              <a:rPr lang="en-US" dirty="0"/>
              <a:t> column into </a:t>
            </a:r>
            <a:r>
              <a:rPr lang="en-US" dirty="0" err="1"/>
              <a:t>seprate</a:t>
            </a:r>
            <a:r>
              <a:rPr lang="en-US" dirty="0"/>
              <a:t> column date, day and hours. </a:t>
            </a:r>
          </a:p>
          <a:p>
            <a:r>
              <a:rPr lang="en-US" dirty="0"/>
              <a:t>I deleted </a:t>
            </a:r>
            <a:r>
              <a:rPr lang="en-US" dirty="0" err="1"/>
              <a:t>video_description</a:t>
            </a:r>
            <a:r>
              <a:rPr lang="en-US" dirty="0"/>
              <a:t>, </a:t>
            </a:r>
            <a:r>
              <a:rPr lang="en-US" dirty="0" err="1"/>
              <a:t>video_tag</a:t>
            </a:r>
            <a:r>
              <a:rPr lang="en-US" dirty="0"/>
              <a:t>, </a:t>
            </a:r>
            <a:r>
              <a:rPr lang="en-US" dirty="0" err="1"/>
              <a:t>video_default_thumbnail</a:t>
            </a:r>
            <a:r>
              <a:rPr lang="en-US" dirty="0"/>
              <a:t>, </a:t>
            </a:r>
            <a:r>
              <a:rPr lang="en-US" dirty="0" err="1"/>
              <a:t>channel_localized_description</a:t>
            </a:r>
            <a:r>
              <a:rPr lang="en-US" dirty="0"/>
              <a:t>, </a:t>
            </a:r>
            <a:r>
              <a:rPr lang="en-US" dirty="0" err="1"/>
              <a:t>video_published_at</a:t>
            </a:r>
            <a:r>
              <a:rPr lang="en-US" dirty="0"/>
              <a:t> and channel _</a:t>
            </a:r>
            <a:r>
              <a:rPr lang="en-US" dirty="0" err="1"/>
              <a:t>published_at</a:t>
            </a:r>
            <a:r>
              <a:rPr lang="en-US" dirty="0"/>
              <a:t> columns.</a:t>
            </a:r>
          </a:p>
          <a:p>
            <a:r>
              <a:rPr lang="en-US" dirty="0"/>
              <a:t>Standardize the country column by replacing ‘united states’ with ‘US’ . ‘India’ with ‘IND’ , ‘united kingdom’ with ‘UK’ and ‘united states emirates’ with “UAE”.</a:t>
            </a:r>
          </a:p>
        </p:txBody>
      </p:sp>
    </p:spTree>
    <p:extLst>
      <p:ext uri="{BB962C8B-B14F-4D97-AF65-F5344CB8AC3E}">
        <p14:creationId xmlns:p14="http://schemas.microsoft.com/office/powerpoint/2010/main" val="298170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04133-6C40-8BC4-DA1A-82BD61820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8755"/>
            <a:ext cx="10515600" cy="576400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Filled missing values in view, like, comment, </a:t>
            </a:r>
            <a:r>
              <a:rPr lang="en-US" dirty="0" err="1"/>
              <a:t>hour,dislike</a:t>
            </a:r>
            <a:r>
              <a:rPr lang="en-US" dirty="0"/>
              <a:t> with “0” and description, category, day  with “unknown” , Date with”1900-01-01”,Engagement rate and like ratio with mean().</a:t>
            </a:r>
          </a:p>
          <a:p>
            <a:r>
              <a:rPr lang="en-US" dirty="0"/>
              <a:t>“An ‘Engagement Rate’ column was created using the formula :</a:t>
            </a:r>
          </a:p>
          <a:p>
            <a:pPr marL="0" indent="0">
              <a:buNone/>
            </a:pPr>
            <a:r>
              <a:rPr lang="en-US" b="1" dirty="0"/>
              <a:t>Engagement rate= (likes+ comment) / views.</a:t>
            </a:r>
          </a:p>
          <a:p>
            <a:pPr marL="0" indent="0">
              <a:buNone/>
            </a:pPr>
            <a:r>
              <a:rPr lang="en-US" dirty="0"/>
              <a:t>This metrics helps measure how actively viewers interact with the videos.”</a:t>
            </a:r>
          </a:p>
          <a:p>
            <a:r>
              <a:rPr lang="en-US" dirty="0"/>
              <a:t>Dislike column was created using formula [‘</a:t>
            </a:r>
            <a:r>
              <a:rPr lang="en-US" dirty="0" err="1"/>
              <a:t>video_view_count</a:t>
            </a:r>
            <a:r>
              <a:rPr lang="en-US" dirty="0"/>
              <a:t>’*0.001]</a:t>
            </a:r>
          </a:p>
          <a:p>
            <a:r>
              <a:rPr lang="en-US" dirty="0" err="1"/>
              <a:t>Creted</a:t>
            </a:r>
            <a:r>
              <a:rPr lang="en-US" dirty="0"/>
              <a:t> a like ration column using ‘</a:t>
            </a:r>
            <a:r>
              <a:rPr lang="en-US" dirty="0" err="1"/>
              <a:t>like_ratio</a:t>
            </a:r>
            <a:r>
              <a:rPr lang="en-US" dirty="0"/>
              <a:t>’=likes/(</a:t>
            </a:r>
            <a:r>
              <a:rPr lang="en-US" dirty="0" err="1"/>
              <a:t>likes+dislikes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84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88B9DE-CECD-FC89-FCB1-9FC33F051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1896" y="894405"/>
            <a:ext cx="12064181" cy="729892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 err="1"/>
              <a:t>Role</a:t>
            </a:r>
            <a:r>
              <a:rPr lang="fr-FR" sz="3600" b="1" dirty="0"/>
              <a:t> 2: Data </a:t>
            </a:r>
            <a:r>
              <a:rPr lang="fr-FR" sz="3600" b="1" dirty="0" err="1"/>
              <a:t>Analysis</a:t>
            </a:r>
            <a:r>
              <a:rPr lang="fr-FR" sz="3600" b="1" dirty="0"/>
              <a:t>  &amp; EDA </a:t>
            </a:r>
            <a:br>
              <a:rPr lang="en-US" sz="2800" b="1" dirty="0"/>
            </a:b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1817FB-5596-0BE0-FEDB-83BCDC55D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455" y="1526459"/>
            <a:ext cx="2620467" cy="2361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4CDCC5-B499-7423-3125-F0CD60002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502" y="1526459"/>
            <a:ext cx="2527290" cy="23212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334F94-FD47-2B36-F5BD-03D66B4B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1390" y="4114801"/>
            <a:ext cx="2456700" cy="2321235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E7BE9B8-4378-DA1A-51E1-58F590BE70B3}"/>
              </a:ext>
            </a:extLst>
          </p:cNvPr>
          <p:cNvSpPr txBox="1">
            <a:spLocks/>
          </p:cNvSpPr>
          <p:nvPr/>
        </p:nvSpPr>
        <p:spPr>
          <a:xfrm>
            <a:off x="451887" y="4313379"/>
            <a:ext cx="5398308" cy="1071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Peoples &amp; Blogs category has the highest avg view count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9A0557-60E3-FE9E-9A19-2396FE116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9009" y="5126405"/>
            <a:ext cx="3091203" cy="1761503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1A49877-E307-2C64-B5EC-441C86B04153}"/>
              </a:ext>
            </a:extLst>
          </p:cNvPr>
          <p:cNvSpPr txBox="1">
            <a:spLocks/>
          </p:cNvSpPr>
          <p:nvPr/>
        </p:nvSpPr>
        <p:spPr>
          <a:xfrm>
            <a:off x="367611" y="1905247"/>
            <a:ext cx="5837663" cy="126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There are top 10 channels by total views, likes &amp; engagement rate. In this table, the channel title (Endless love) has the most likes and views. Carry </a:t>
            </a:r>
            <a:r>
              <a:rPr lang="en-US" sz="2000" dirty="0" err="1"/>
              <a:t>minati</a:t>
            </a:r>
            <a:r>
              <a:rPr lang="en-US" sz="2000" dirty="0"/>
              <a:t> has the highest avg </a:t>
            </a:r>
            <a:r>
              <a:rPr lang="en-US" sz="2000" dirty="0" err="1"/>
              <a:t>engagement_rate</a:t>
            </a:r>
            <a:r>
              <a:rPr lang="en-US" sz="2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441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AF20F1-CD5D-B96B-666E-5F9A454CF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100" y="1049594"/>
            <a:ext cx="3364817" cy="1632154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46357F4-DCA0-1929-30A1-252AA46EEC1E}"/>
              </a:ext>
            </a:extLst>
          </p:cNvPr>
          <p:cNvSpPr txBox="1">
            <a:spLocks/>
          </p:cNvSpPr>
          <p:nvPr/>
        </p:nvSpPr>
        <p:spPr>
          <a:xfrm>
            <a:off x="697692" y="1049594"/>
            <a:ext cx="5398308" cy="107102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this table I have compared country according to avg </a:t>
            </a:r>
            <a:r>
              <a:rPr lang="en-US" dirty="0" err="1"/>
              <a:t>Engagement_rate</a:t>
            </a:r>
            <a:r>
              <a:rPr lang="en-US" dirty="0"/>
              <a:t>. India has the highest avg Engagement rate compared to Uk and </a:t>
            </a:r>
            <a:r>
              <a:rPr lang="en-US" dirty="0" err="1"/>
              <a:t>spain</a:t>
            </a:r>
            <a:r>
              <a:rPr lang="en-US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B73AF1-2A93-FD4B-11CD-23287F6EA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677" y="2681748"/>
            <a:ext cx="3780890" cy="2148036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0D5AAABF-8EED-8C23-4DCC-B242991C06A0}"/>
              </a:ext>
            </a:extLst>
          </p:cNvPr>
          <p:cNvSpPr txBox="1">
            <a:spLocks/>
          </p:cNvSpPr>
          <p:nvPr/>
        </p:nvSpPr>
        <p:spPr>
          <a:xfrm>
            <a:off x="697692" y="2775156"/>
            <a:ext cx="5398308" cy="1071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As you can see , The maximum no of videos are uploaded on Friday and the most views have  also come on Friday.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4C838E-C3A2-6563-ADBB-BD41637FC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67" y="4954774"/>
            <a:ext cx="3936500" cy="2225233"/>
          </a:xfrm>
          <a:prstGeom prst="rect">
            <a:avLst/>
          </a:prstGeom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F97EB58-BB11-4FD9-2CB3-F13D6C7AB442}"/>
              </a:ext>
            </a:extLst>
          </p:cNvPr>
          <p:cNvSpPr txBox="1">
            <a:spLocks/>
          </p:cNvSpPr>
          <p:nvPr/>
        </p:nvSpPr>
        <p:spPr>
          <a:xfrm>
            <a:off x="889433" y="4829784"/>
            <a:ext cx="5398308" cy="1071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According to the table, In may 2025 has the highest total views and the highest number of video uploads in Aug 2025.</a:t>
            </a:r>
          </a:p>
        </p:txBody>
      </p:sp>
    </p:spTree>
    <p:extLst>
      <p:ext uri="{BB962C8B-B14F-4D97-AF65-F5344CB8AC3E}">
        <p14:creationId xmlns:p14="http://schemas.microsoft.com/office/powerpoint/2010/main" val="348517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EC796F-A5A9-0548-B40F-170EF436C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88" y="1433338"/>
            <a:ext cx="6862222" cy="20349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273410-26A5-D989-44B0-CB5B80B06642}"/>
              </a:ext>
            </a:extLst>
          </p:cNvPr>
          <p:cNvSpPr txBox="1"/>
          <p:nvPr/>
        </p:nvSpPr>
        <p:spPr>
          <a:xfrm>
            <a:off x="294967" y="843963"/>
            <a:ext cx="10353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In this table, There are latest top 10 trending videos in </a:t>
            </a:r>
            <a:r>
              <a:rPr lang="en-US" sz="2400" dirty="0" err="1"/>
              <a:t>india</a:t>
            </a:r>
            <a:r>
              <a:rPr lang="en-US" sz="20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544AD2-F785-0684-E79E-29BAF7CC1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05" y="4399885"/>
            <a:ext cx="4760278" cy="16567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70CE5C-A152-9998-2EA7-DA77E78FF04D}"/>
              </a:ext>
            </a:extLst>
          </p:cNvPr>
          <p:cNvSpPr txBox="1"/>
          <p:nvPr/>
        </p:nvSpPr>
        <p:spPr>
          <a:xfrm>
            <a:off x="5259395" y="4515665"/>
            <a:ext cx="7537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There are top 10 most liked videos in India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3E7906-664E-93FA-5FF3-A3FBF6738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016" y="5061156"/>
            <a:ext cx="6755972" cy="21820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AC0556-1C38-5914-94F1-3AA5B4346AAF}"/>
              </a:ext>
            </a:extLst>
          </p:cNvPr>
          <p:cNvSpPr txBox="1"/>
          <p:nvPr/>
        </p:nvSpPr>
        <p:spPr>
          <a:xfrm>
            <a:off x="294968" y="3519843"/>
            <a:ext cx="11886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There are top 5  most subscribed channels, in this data you can see T- series has the highest subscriber 877 billion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16867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1BB25A-26F7-8441-82FF-012AA38BE67D}"/>
              </a:ext>
            </a:extLst>
          </p:cNvPr>
          <p:cNvSpPr txBox="1"/>
          <p:nvPr/>
        </p:nvSpPr>
        <p:spPr>
          <a:xfrm>
            <a:off x="487680" y="1021081"/>
            <a:ext cx="1076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Role 3: Visualization &amp; 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A7B29C-E9F7-C1BF-F750-21F0E990F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880" y="4905476"/>
            <a:ext cx="2093010" cy="11062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F7E251-82D9-D1B8-C903-6F5ACD033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880" y="3635438"/>
            <a:ext cx="2093010" cy="11245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D42C57-BCF3-D743-2E96-B4028C0DB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880" y="2126153"/>
            <a:ext cx="2093010" cy="11979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F8233C-6339-ACB1-F8C4-FF47990D6AD5}"/>
              </a:ext>
            </a:extLst>
          </p:cNvPr>
          <p:cNvSpPr txBox="1"/>
          <p:nvPr/>
        </p:nvSpPr>
        <p:spPr>
          <a:xfrm>
            <a:off x="590498" y="2126154"/>
            <a:ext cx="7303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total </a:t>
            </a:r>
            <a:r>
              <a:rPr lang="en-US" dirty="0" err="1"/>
              <a:t>video_view</a:t>
            </a:r>
            <a:r>
              <a:rPr lang="en-US" dirty="0"/>
              <a:t> count is 3.6 trillion ,  It represent the total number of times a particular video has been watched by users.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350D25-25F4-D12A-9133-A35D4AA54095}"/>
              </a:ext>
            </a:extLst>
          </p:cNvPr>
          <p:cNvSpPr txBox="1"/>
          <p:nvPr/>
        </p:nvSpPr>
        <p:spPr>
          <a:xfrm>
            <a:off x="590498" y="3468470"/>
            <a:ext cx="7303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total </a:t>
            </a:r>
            <a:r>
              <a:rPr lang="en-US" dirty="0" err="1"/>
              <a:t>video_like</a:t>
            </a:r>
            <a:r>
              <a:rPr lang="en-US" dirty="0"/>
              <a:t> count is 95 billion ,  It represent the total number of likes received on a particular video.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40257-915B-2066-8CB0-AC1658CFC07B}"/>
              </a:ext>
            </a:extLst>
          </p:cNvPr>
          <p:cNvSpPr txBox="1"/>
          <p:nvPr/>
        </p:nvSpPr>
        <p:spPr>
          <a:xfrm>
            <a:off x="590498" y="4929033"/>
            <a:ext cx="73038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avg Engagement rate is 214 thousand,  Engagement rate measure how actively viewers interact with a video through likes and comments, relative to the total number of views .</a:t>
            </a:r>
          </a:p>
        </p:txBody>
      </p:sp>
    </p:spTree>
    <p:extLst>
      <p:ext uri="{BB962C8B-B14F-4D97-AF65-F5344CB8AC3E}">
        <p14:creationId xmlns:p14="http://schemas.microsoft.com/office/powerpoint/2010/main" val="2806940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3836-26AD-38D1-2119-A2BE2847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949326"/>
            <a:ext cx="10515600" cy="793115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Performance by categories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E99F0-C5EE-F357-95DA-083387641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964" y="1569600"/>
            <a:ext cx="4111156" cy="254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E6490C-29DD-0259-ED79-F2A34C41B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21" y="4290631"/>
            <a:ext cx="5585693" cy="31014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417AAA-B3A4-3489-3DE8-CBFEBD813070}"/>
              </a:ext>
            </a:extLst>
          </p:cNvPr>
          <p:cNvSpPr txBox="1"/>
          <p:nvPr/>
        </p:nvSpPr>
        <p:spPr>
          <a:xfrm>
            <a:off x="472440" y="1901050"/>
            <a:ext cx="6741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This visualization shows the top 10 categories ranked by total views , helping to identify which category generate the most viewers engagement.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0D4C33-119D-5655-2FBF-5AACC4CB6A65}"/>
              </a:ext>
            </a:extLst>
          </p:cNvPr>
          <p:cNvSpPr txBox="1"/>
          <p:nvPr/>
        </p:nvSpPr>
        <p:spPr>
          <a:xfrm>
            <a:off x="472440" y="4578973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This chart presents the top 10 categories with maximum likes and comment , showcasing audience interaction and engagement trends. </a:t>
            </a:r>
          </a:p>
        </p:txBody>
      </p:sp>
    </p:spTree>
    <p:extLst>
      <p:ext uri="{BB962C8B-B14F-4D97-AF65-F5344CB8AC3E}">
        <p14:creationId xmlns:p14="http://schemas.microsoft.com/office/powerpoint/2010/main" val="3732052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99FD62-5503-0DBC-B3D7-A3C880509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0" y="961272"/>
            <a:ext cx="5085080" cy="3153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C23521-ED46-E164-C031-1E60FA487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760" y="4585856"/>
            <a:ext cx="3677920" cy="28716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19161B-BCF6-DC01-FD62-32636939B486}"/>
              </a:ext>
            </a:extLst>
          </p:cNvPr>
          <p:cNvSpPr txBox="1"/>
          <p:nvPr/>
        </p:nvSpPr>
        <p:spPr>
          <a:xfrm>
            <a:off x="228600" y="1205852"/>
            <a:ext cx="642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This visualization highlights top 10 categories achieving the best average engagement rate, helping identify the most engaging and responsive contents area.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C117EB-D0C7-2848-7573-219AE6225669}"/>
              </a:ext>
            </a:extLst>
          </p:cNvPr>
          <p:cNvSpPr txBox="1"/>
          <p:nvPr/>
        </p:nvSpPr>
        <p:spPr>
          <a:xfrm>
            <a:off x="381000" y="4585856"/>
            <a:ext cx="642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This visualization highlights top 10 categories achieving the highest like ratio,  reflecting audience appreciation and content quality perception. </a:t>
            </a:r>
          </a:p>
        </p:txBody>
      </p:sp>
    </p:spTree>
    <p:extLst>
      <p:ext uri="{BB962C8B-B14F-4D97-AF65-F5344CB8AC3E}">
        <p14:creationId xmlns:p14="http://schemas.microsoft.com/office/powerpoint/2010/main" val="2331938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931AF-6C7B-3900-462F-86F09AA9E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98526"/>
            <a:ext cx="10515600" cy="925195"/>
          </a:xfrm>
        </p:spPr>
        <p:txBody>
          <a:bodyPr/>
          <a:lstStyle/>
          <a:p>
            <a:r>
              <a:rPr lang="en-US" b="1" i="1" dirty="0"/>
              <a:t>Top performing channels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195AA0-B68C-FE39-F16E-C0DD904C1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267" y="1539240"/>
            <a:ext cx="4873509" cy="27916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554256-D233-C616-4345-5A9CDBA86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267" y="4457536"/>
            <a:ext cx="5055813" cy="27916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97AD47-0BF7-9C98-0E6B-8EDADBB66C53}"/>
              </a:ext>
            </a:extLst>
          </p:cNvPr>
          <p:cNvSpPr txBox="1"/>
          <p:nvPr/>
        </p:nvSpPr>
        <p:spPr>
          <a:xfrm>
            <a:off x="215293" y="1755633"/>
            <a:ext cx="6741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This visualization shows the top 10 channels ranked by total views , helping to identify which channel generate the most viewers 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D32921-254A-F73E-427D-C7767C494A86}"/>
              </a:ext>
            </a:extLst>
          </p:cNvPr>
          <p:cNvSpPr txBox="1"/>
          <p:nvPr/>
        </p:nvSpPr>
        <p:spPr>
          <a:xfrm>
            <a:off x="492760" y="4627308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This chart presents the top 10 Channels  with maximum likes and comment , helping to identify the most engaging channels for viewers. </a:t>
            </a:r>
          </a:p>
        </p:txBody>
      </p:sp>
    </p:spTree>
    <p:extLst>
      <p:ext uri="{BB962C8B-B14F-4D97-AF65-F5344CB8AC3E}">
        <p14:creationId xmlns:p14="http://schemas.microsoft.com/office/powerpoint/2010/main" val="3616427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130F6-177E-59CE-AA9F-547F547B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3467260"/>
            <a:ext cx="6802120" cy="8355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Heatmap Day- Hour vs Views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44F8AA-9E70-EBC5-E87A-95539B110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04163"/>
            <a:ext cx="4790440" cy="26989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79F3F1-3423-38D0-387A-195C085D61B6}"/>
              </a:ext>
            </a:extLst>
          </p:cNvPr>
          <p:cNvSpPr txBox="1"/>
          <p:nvPr/>
        </p:nvSpPr>
        <p:spPr>
          <a:xfrm>
            <a:off x="665480" y="1081468"/>
            <a:ext cx="6334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This visualization presents the top 10 channels ranked by total views and average engagement rate, helping to identify the most viewed and most engaging channels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11D775-4281-5B8F-9222-68659BBC8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929" y="3367895"/>
            <a:ext cx="5164167" cy="21459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4AEDFB-88B9-2423-EA2A-2FAD7568B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049" y="5613164"/>
            <a:ext cx="5164167" cy="21120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0AFD723-4E7C-A240-FF5B-344AC3546D94}"/>
              </a:ext>
            </a:extLst>
          </p:cNvPr>
          <p:cNvSpPr txBox="1"/>
          <p:nvPr/>
        </p:nvSpPr>
        <p:spPr>
          <a:xfrm>
            <a:off x="311645" y="4689834"/>
            <a:ext cx="63347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This visualization highlights peak viewing times by mapping views across days and hours, allowing us to </a:t>
            </a:r>
            <a:r>
              <a:rPr lang="en-US" dirty="0" err="1"/>
              <a:t>pionpoint</a:t>
            </a:r>
            <a:r>
              <a:rPr lang="en-US" dirty="0"/>
              <a:t> when videos receive the highest engagement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Darker – Higher views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Lighter – Lower views</a:t>
            </a:r>
          </a:p>
        </p:txBody>
      </p:sp>
    </p:spTree>
    <p:extLst>
      <p:ext uri="{BB962C8B-B14F-4D97-AF65-F5344CB8AC3E}">
        <p14:creationId xmlns:p14="http://schemas.microsoft.com/office/powerpoint/2010/main" val="3223114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C8681-B0E9-FC57-BDB1-AB601EB8E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214632"/>
            <a:ext cx="10515600" cy="862328"/>
          </a:xfrm>
        </p:spPr>
        <p:txBody>
          <a:bodyPr/>
          <a:lstStyle/>
          <a:p>
            <a:r>
              <a:rPr lang="en-US" b="1" dirty="0"/>
              <a:t>Recommendations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D7108D-0C7B-6117-8057-319DF2B51900}"/>
              </a:ext>
            </a:extLst>
          </p:cNvPr>
          <p:cNvSpPr txBox="1">
            <a:spLocks/>
          </p:cNvSpPr>
          <p:nvPr/>
        </p:nvSpPr>
        <p:spPr>
          <a:xfrm>
            <a:off x="330200" y="1076960"/>
            <a:ext cx="10662920" cy="5718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Post videos during the audience’s peak active hours to maximum views.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Focus more on high – performing categories to attract a large audience base.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err="1"/>
              <a:t>Analyse</a:t>
            </a:r>
            <a:r>
              <a:rPr lang="en-US" sz="2800" dirty="0"/>
              <a:t> audience comments and feedback regularly to refine content </a:t>
            </a:r>
            <a:r>
              <a:rPr lang="en-US" sz="2800" dirty="0" err="1"/>
              <a:t>stratergy</a:t>
            </a:r>
            <a:r>
              <a:rPr lang="en-US" sz="2800" dirty="0"/>
              <a:t> 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Maintain a consistent video upload schedule to improve audience retention and engagement.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Encourage viewers to like, comment and share to boost engagement rate.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Create more content similar to the videos that received the highest number of likes.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52217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A10A-8D67-EC13-D821-C18C7E91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520" y="304800"/>
            <a:ext cx="10515600" cy="901068"/>
          </a:xfrm>
        </p:spPr>
        <p:txBody>
          <a:bodyPr>
            <a:normAutofit fontScale="90000"/>
          </a:bodyPr>
          <a:lstStyle/>
          <a:p>
            <a:r>
              <a:rPr lang="en-US" sz="6000" b="1" i="1" dirty="0"/>
              <a:t>Conclusion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F478C91-21BA-081D-C704-597815E1524B}"/>
              </a:ext>
            </a:extLst>
          </p:cNvPr>
          <p:cNvSpPr txBox="1">
            <a:spLocks/>
          </p:cNvSpPr>
          <p:nvPr/>
        </p:nvSpPr>
        <p:spPr>
          <a:xfrm>
            <a:off x="604520" y="755334"/>
            <a:ext cx="10515600" cy="4084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The </a:t>
            </a:r>
            <a:r>
              <a:rPr lang="en-US" sz="3200" dirty="0" err="1"/>
              <a:t>youtube</a:t>
            </a:r>
            <a:r>
              <a:rPr lang="en-US" sz="3200" dirty="0"/>
              <a:t> data analysis revealed how upload day, time and content type impact video performance .Videos uploaded on specific days gained higher views and interactions.</a:t>
            </a:r>
          </a:p>
          <a:p>
            <a:r>
              <a:rPr lang="en-US" sz="3200" dirty="0"/>
              <a:t>Consistent posting and audience focused content helped improve overall channel growth. </a:t>
            </a:r>
          </a:p>
          <a:p>
            <a:r>
              <a:rPr lang="en-US" sz="3200" dirty="0"/>
              <a:t>Like and Comment were found to be strong indicators of audience satisfaction and interaction.</a:t>
            </a:r>
          </a:p>
        </p:txBody>
      </p:sp>
    </p:spTree>
    <p:extLst>
      <p:ext uri="{BB962C8B-B14F-4D97-AF65-F5344CB8AC3E}">
        <p14:creationId xmlns:p14="http://schemas.microsoft.com/office/powerpoint/2010/main" val="1205983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481</TotalTime>
  <Words>1088</Words>
  <Application>Microsoft Office PowerPoint</Application>
  <PresentationFormat>Custom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Britannic Bold</vt:lpstr>
      <vt:lpstr>Courier New</vt:lpstr>
      <vt:lpstr>Wingdings</vt:lpstr>
      <vt:lpstr>Office Theme</vt:lpstr>
      <vt:lpstr>Project Title: Youtube Data Analytics Project</vt:lpstr>
      <vt:lpstr>Objective</vt:lpstr>
      <vt:lpstr>PowerPoint Presentation</vt:lpstr>
      <vt:lpstr>Role 1 : Data Cleaning </vt:lpstr>
      <vt:lpstr>PowerPoint Presentation</vt:lpstr>
      <vt:lpstr>Role 2: Data Analysis  &amp; EDA  </vt:lpstr>
      <vt:lpstr>PowerPoint Presentation</vt:lpstr>
      <vt:lpstr>PowerPoint Presentation</vt:lpstr>
      <vt:lpstr>PowerPoint Presentation</vt:lpstr>
      <vt:lpstr>Performance by categories</vt:lpstr>
      <vt:lpstr>PowerPoint Presentation</vt:lpstr>
      <vt:lpstr>Top performing channels</vt:lpstr>
      <vt:lpstr>Heatmap Day- Hour vs Views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Anshul Singh</dc:creator>
  <cp:lastModifiedBy>Anshul Singh</cp:lastModifiedBy>
  <cp:revision>14</cp:revision>
  <dcterms:created xsi:type="dcterms:W3CDTF">2025-10-14T15:27:25Z</dcterms:created>
  <dcterms:modified xsi:type="dcterms:W3CDTF">2025-11-10T14:05:37Z</dcterms:modified>
</cp:coreProperties>
</file>